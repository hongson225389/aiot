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66" r:id="rId13"/>
    <p:sldId id="272" r:id="rId14"/>
    <p:sldId id="273" r:id="rId15"/>
    <p:sldId id="267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3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45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17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44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mnt/data/template_media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1572768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808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BÁO CÁO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749808" y="1719072"/>
            <a:ext cx="5303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HỆ THỐNG AIoT HỖ TRỢ HỌC TẬP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SỬ DỤNG EEG VÀ CAMERA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77240" y="2606040"/>
            <a:ext cx="5120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0000"/>
                </a:solidFill>
              </a:rPr>
              <a:t>Sinh viên thực hiện: Lê Hồng Sơn – 20225389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0000"/>
                </a:solidFill>
              </a:rPr>
              <a:t>Giảng viên hướng dẫn: </a:t>
            </a:r>
            <a:r>
              <a:rPr lang="en-US" sz="1600" dirty="0" smtClean="0">
                <a:solidFill>
                  <a:srgbClr val="990000"/>
                </a:solidFill>
              </a:rPr>
              <a:t>	</a:t>
            </a:r>
            <a:r>
              <a:rPr lang="en-US" sz="1600" dirty="0" err="1" smtClean="0">
                <a:solidFill>
                  <a:srgbClr val="990000"/>
                </a:solidFill>
              </a:rPr>
              <a:t>Trịnh</a:t>
            </a:r>
            <a:r>
              <a:rPr lang="en-US" sz="1600" dirty="0" smtClean="0">
                <a:solidFill>
                  <a:srgbClr val="990000"/>
                </a:solidFill>
              </a:rPr>
              <a:t>  </a:t>
            </a:r>
            <a:r>
              <a:rPr lang="en-US" sz="1600" dirty="0" err="1" smtClean="0">
                <a:solidFill>
                  <a:srgbClr val="990000"/>
                </a:solidFill>
              </a:rPr>
              <a:t>Văn</a:t>
            </a:r>
            <a:r>
              <a:rPr lang="en-US" sz="1600" dirty="0" smtClean="0">
                <a:solidFill>
                  <a:srgbClr val="990000"/>
                </a:solidFill>
              </a:rPr>
              <a:t> </a:t>
            </a:r>
            <a:r>
              <a:rPr lang="en-US" sz="1600" dirty="0" err="1" smtClean="0">
                <a:solidFill>
                  <a:srgbClr val="990000"/>
                </a:solidFill>
              </a:rPr>
              <a:t>Chiến</a:t>
            </a:r>
            <a:endParaRPr lang="en-US" sz="1600" dirty="0" smtClean="0">
              <a:solidFill>
                <a:srgbClr val="99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90000"/>
                </a:solidFill>
              </a:rPr>
              <a:t>	</a:t>
            </a:r>
            <a:r>
              <a:rPr lang="en-US" sz="1600" dirty="0" smtClean="0">
                <a:solidFill>
                  <a:srgbClr val="990000"/>
                </a:solidFill>
              </a:rPr>
              <a:t>		</a:t>
            </a:r>
            <a:r>
              <a:rPr lang="en-US" sz="1600" dirty="0" err="1" smtClean="0">
                <a:solidFill>
                  <a:srgbClr val="990000"/>
                </a:solidFill>
              </a:rPr>
              <a:t>Nguyễn</a:t>
            </a:r>
            <a:r>
              <a:rPr lang="en-US" sz="1600" dirty="0" smtClean="0">
                <a:solidFill>
                  <a:srgbClr val="990000"/>
                </a:solidFill>
              </a:rPr>
              <a:t> </a:t>
            </a:r>
            <a:r>
              <a:rPr lang="en-US" sz="1600" dirty="0">
                <a:solidFill>
                  <a:srgbClr val="990000"/>
                </a:solidFill>
              </a:rPr>
              <a:t>Tuấn Đạt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C00000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9144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588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đề tài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xây dựng sản phẩm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048256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048256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thu thập và xử lý dữ liệu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615184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 và mô hình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3182112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3182112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3749040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hướng phát triển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Giới thiệu đề tài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4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594360" y="886968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HIỆN TẠI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1143000"/>
            <a:ext cx="47091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trực tuyến và tự học trên máy tính ngày càng phổ biến, nhưng người học dễ mất tập trung hoặc mệt mỏi mà không được phát hiện kịp thời.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sát thủ công và bảng hỏi có độ trễ cao, phụ thuộc cảm nhận chủ quan của người học hoặc người giám sát.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 kết hợp EEG và camera để theo dõi trạng thái học tập theo thời gian thực, phục vụ trực quan hóa và đánh giá kỹ thuật.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87926" y="4119154"/>
            <a:ext cx="1231320" cy="99516"/>
          </a:xfrm>
          <a:prstGeom prst="rect">
            <a:avLst/>
          </a:prstGeom>
          <a:solidFill>
            <a:srgbClr val="F7F7F7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977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50792"/>
            <a:ext cx="192024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0000"/>
                </a:solidFill>
              </a:rPr>
              <a:t>EEG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90000"/>
                </a:solidFill>
              </a:rPr>
              <a:t>Attention, Meditation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90000"/>
                </a:solidFill>
              </a:rPr>
              <a:t>Delta – Gamma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3977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4050792"/>
            <a:ext cx="192024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Camera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Head Pose, Gaze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Emotion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0FFF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050792"/>
            <a:ext cx="20116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7A55"/>
                </a:solidFill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7A55"/>
                </a:solidFill>
              </a:rPr>
              <a:t>Biểu đồ real-time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7A55"/>
                </a:solidFill>
              </a:rPr>
              <a:t>AI trạng thái học tập</a:t>
            </a:r>
            <a:endParaRPr lang="en-US" sz="1100" dirty="0"/>
          </a:p>
        </p:txBody>
      </p:sp>
      <p:pic>
        <p:nvPicPr>
          <p:cNvPr id="1026" name="Picture 2" descr="Thiết bị theo dõi sóng não học sinh ở Trung Quốc hứng chỉ trí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159526"/>
            <a:ext cx="3563937" cy="237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4503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Giới thiệu đề tài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5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502920" y="818388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VÀ PHẠM VI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4360" y="114300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DF6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16152"/>
            <a:ext cx="224028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Mục tiêu 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Thu thập EEG từ TGAM qua COM14 và lấy ảnh từ webcam máy tính.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216152"/>
            <a:ext cx="233172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Mục tiêu 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Phân tích Head/Gaze/Emotion và phân loại “Tập trung” hoặc “Sao nhãng”.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14300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4FFF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216152"/>
            <a:ext cx="224028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Mục tiêu 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Hiển thị sóng EEG, 8 dải năng lượng, camera và trạng thái AI trên Dashboard.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834640"/>
            <a:ext cx="4788809" cy="182444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vi: một người học ngồi trước máy tính trong môi trường thử nghiệm.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thiết bị TGAM một kênh và webcam mặc định của máy tính.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hệ thống chạy end-to-end từ cảm biến → Edge → Backend → Frontend.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ý: kết quả phục vụ nghiên cứu kỹ thuật, không dùng cho chẩn đoán y khoa.</a:t>
            </a:r>
            <a:endParaRPr lang="en-US" sz="1600" dirty="0"/>
          </a:p>
        </p:txBody>
      </p:sp>
      <p:pic>
        <p:nvPicPr>
          <p:cNvPr id="2050" name="Picture 2" descr="Thiết bị theo dõi sóng não, hiển thị sự tập trung của học sinh khiến dân  mạng Trung Quốc chê bai trong sợ hã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143" y="2834640"/>
            <a:ext cx="3298825" cy="219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Hướng xây dựng sản phẩm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6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640080" y="8686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941832"/>
            <a:ext cx="17830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Thiết bị TGAM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0360" y="886968"/>
            <a:ext cx="4480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Attention, Meditation, raw EEG và ASIC_EEG_POWER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6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93392"/>
            <a:ext cx="17830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Webcam máy tính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80360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ảnh người học, phân tích khuôn mặt theo thời gian thực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044952"/>
            <a:ext cx="17830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Edge Python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880360" y="2990088"/>
            <a:ext cx="4480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TGAMReader, VisionTracker, main_fusion.py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402336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6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096512"/>
            <a:ext cx="17830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Dashboard Web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80360" y="4041648"/>
            <a:ext cx="4480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biểu đồ EEG, camera và final_state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Kiến trúc tổng thể hệ thống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7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73152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4612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Edge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9788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Lưu trữ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07592"/>
            <a:ext cx="13258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TGAM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COM14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5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04872"/>
            <a:ext cx="13258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Webcam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Laptop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31720" y="1481328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331720" y="2578608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880360" y="14173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1490472"/>
            <a:ext cx="18288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EDGE PYTHON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TGAMReader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VisionTracker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main_fusion.py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7492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897880" y="1143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DF6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1216152"/>
            <a:ext cx="164592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BACKEND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Node.js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Express + Socket.IO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743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FF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2816352"/>
            <a:ext cx="16459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React Dashboard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897880" y="3886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7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959352"/>
            <a:ext cx="16459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MongoDB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Telemetry / Labels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real-time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lưu dữ liệu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5074920"/>
            <a:ext cx="7498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chính đi qua event Socket.IO “sensor_data”. Frame camera được gửi thưa hơn để giảm băng thông, trong khi số liệu EEG vẫn cập nhật mượt.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Quy trình thu thập EEG bằng TGAM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8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640080" y="868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941832"/>
            <a:ext cx="12801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AA AA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Sync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12848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560320" y="868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941832"/>
            <a:ext cx="12801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PLENGTH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Độ dài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33088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480560" y="868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941832"/>
            <a:ext cx="12801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PAYLOAD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Dữ liệu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53328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0" y="868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941832"/>
            <a:ext cx="12801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CHECKSUM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Kiểm tra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" y="2057400"/>
            <a:ext cx="77724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" y="2103120"/>
            <a:ext cx="704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gói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645920" y="2057400"/>
            <a:ext cx="18288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82496" y="2103120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</a:t>
            </a: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nghĩa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0" y="2057400"/>
            <a:ext cx="45720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94176" y="2103120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dùng trên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246888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2376" y="2514600"/>
            <a:ext cx="7040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0x02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645920" y="2468880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82496" y="2514600"/>
            <a:ext cx="17556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Signal Quality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657600" y="2468880"/>
            <a:ext cx="4572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94176" y="2514600"/>
            <a:ext cx="44988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Quality / trạng thái điện cực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5800" y="290779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" y="2953512"/>
            <a:ext cx="7040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0x04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645920" y="290779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82496" y="2953512"/>
            <a:ext cx="17556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eSense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657600" y="2907792"/>
            <a:ext cx="4572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94176" y="2953512"/>
            <a:ext cx="44988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tập trung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85800" y="3346704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2376" y="3392424"/>
            <a:ext cx="7040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0x05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645920" y="334670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82496" y="3392424"/>
            <a:ext cx="17556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eSense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7600" y="3346704"/>
            <a:ext cx="4572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94176" y="3392424"/>
            <a:ext cx="44988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thư giãn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85800" y="378561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2376" y="3831336"/>
            <a:ext cx="7040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0x83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645920" y="3785616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82496" y="3831336"/>
            <a:ext cx="17556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ASIC_EEG_POWER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657600" y="3785616"/>
            <a:ext cx="4572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94176" y="3831336"/>
            <a:ext cx="449884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dải: Delta, Theta, Low/High Alpha, Low/High Beta, Low/Mid Gamma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22960" y="4663440"/>
            <a:ext cx="7315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tự tính FFT: TGAM trả sẵn năng lượng 8 dải qua gói 0x83. 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Quy trình phân tích camera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9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594360" y="8686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5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941832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OpenCV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VideoCapture(0)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48840" y="100584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14600" y="896112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5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06040" y="941832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MediaPipe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Face Mesh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9080" y="100584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34840" y="8686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4FFF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941832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Head Pose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Gaze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16752" y="98755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5080" y="8686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941832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DeepFace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Emotion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 đọc camera, tính hướng đầu và hướng mắt bằng MediaPipe.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DeepFace chạy trong worker thread, chu kỳ khoảng 0,5 giây để tránh giật camera.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EEG gửi 25 FPS, ảnh camera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FPS trong event sensor_data.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3429000"/>
            <a:ext cx="192024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97480" y="3429000"/>
            <a:ext cx="2971800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770632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Nhãn tiếng Việt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77240" y="381304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97480" y="3813048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858768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770632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Vui vẻ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7240" y="419709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97480" y="4197096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4242816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 / angry / fear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770632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Buồn bã / Tức giận / Sợ hãi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77240" y="4581144"/>
            <a:ext cx="1920240" cy="62658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97480" y="4581144"/>
            <a:ext cx="2971800" cy="62658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604004"/>
            <a:ext cx="1856232" cy="5808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 / disgust / neutral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770632" y="4626864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Ngạc nhiên / Khó chịu / Bình thường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339058" y="3182112"/>
            <a:ext cx="1091710" cy="45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40" y="2628768"/>
            <a:ext cx="3185160" cy="2734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Mô hình AI và Sensor Fusion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10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731520" y="859536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đầu vào gồm 10 đặc trưng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6F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61872"/>
            <a:ext cx="173736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EEG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Attention, Meditation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Alpha, Beta, Theta, Delta, Gamma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5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16352"/>
            <a:ext cx="1737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Camera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Head Pose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Gaze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Emotion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3464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947672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Mã hóa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LabelEncoder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64608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49240" y="18745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DF6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1947672"/>
            <a:ext cx="14173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Random Forest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100 cây quyết định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452360" y="18745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4FFF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1947672"/>
            <a:ext cx="11887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final_state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Tập trung / Sao nhãng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4160520"/>
            <a:ext cx="7223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tạo final_state tại tầng Edge.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dùng công thức heuristic để trực quan hóa Focus, Relaxation, Stress và Fatigue.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chỉ số này phục vụ đánh giá kỹ thuật, không phải chẩn đoán y khoa.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Mô hình AI và Sensor Fusion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10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283464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64608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8660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20" name="Picture 19"/>
          <p:cNvPicPr/>
          <p:nvPr/>
        </p:nvPicPr>
        <p:blipFill>
          <a:blip r:embed="rId4"/>
          <a:stretch>
            <a:fillRect/>
          </a:stretch>
        </p:blipFill>
        <p:spPr>
          <a:xfrm>
            <a:off x="809897" y="1149531"/>
            <a:ext cx="7768046" cy="433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87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Giao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11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5440680" y="868680"/>
            <a:ext cx="31089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endParaRPr lang="en-US" sz="1020" dirty="0"/>
          </a:p>
        </p:txBody>
      </p:sp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748936" y="1252728"/>
            <a:ext cx="7942217" cy="42075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" y="91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Giao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11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5440680" y="868680"/>
            <a:ext cx="31089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endParaRPr lang="en-US" sz="102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9" y="868680"/>
            <a:ext cx="7714053" cy="53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2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1440"/>
            <a:ext cx="31726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6. </a:t>
            </a:r>
            <a:r>
              <a:rPr sz="1600" b="1" dirty="0" err="1">
                <a:solidFill>
                  <a:srgbClr val="FFFFFF"/>
                </a:solidFill>
              </a:rPr>
              <a:t>Kết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quả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và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hướng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phát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triển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2520" y="6519672"/>
            <a:ext cx="384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232323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8485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 err="1">
                <a:solidFill>
                  <a:srgbClr val="BE142D"/>
                </a:solidFill>
              </a:rPr>
              <a:t>Kết</a:t>
            </a:r>
            <a:r>
              <a:rPr sz="1500" b="1" dirty="0">
                <a:solidFill>
                  <a:srgbClr val="BE142D"/>
                </a:solidFill>
              </a:rPr>
              <a:t> </a:t>
            </a:r>
            <a:r>
              <a:rPr sz="1500" b="1" dirty="0" err="1">
                <a:solidFill>
                  <a:srgbClr val="BE142D"/>
                </a:solidFill>
              </a:rPr>
              <a:t>quả</a:t>
            </a:r>
            <a:r>
              <a:rPr sz="1500" b="1" dirty="0">
                <a:solidFill>
                  <a:srgbClr val="BE142D"/>
                </a:solidFill>
              </a:rPr>
              <a:t> </a:t>
            </a:r>
            <a:r>
              <a:rPr sz="1500" b="1" dirty="0" err="1">
                <a:solidFill>
                  <a:srgbClr val="BE142D"/>
                </a:solidFill>
              </a:rPr>
              <a:t>đạt</a:t>
            </a:r>
            <a:r>
              <a:rPr sz="1500" b="1" dirty="0">
                <a:solidFill>
                  <a:srgbClr val="BE142D"/>
                </a:solidFill>
              </a:rPr>
              <a:t> </a:t>
            </a:r>
            <a:r>
              <a:rPr sz="1500" b="1" dirty="0" err="1" smtClean="0">
                <a:solidFill>
                  <a:srgbClr val="BE142D"/>
                </a:solidFill>
              </a:rPr>
              <a:t>được</a:t>
            </a:r>
            <a:r>
              <a:rPr lang="en-US" sz="1500" b="1" dirty="0" smtClean="0">
                <a:solidFill>
                  <a:srgbClr val="BE142D"/>
                </a:solidFill>
              </a:rPr>
              <a:t>:</a:t>
            </a:r>
            <a:endParaRPr sz="1500" b="1" dirty="0">
              <a:solidFill>
                <a:srgbClr val="BE142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8229600" cy="1370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Đọc</a:t>
            </a:r>
            <a:r>
              <a:rPr sz="1600" dirty="0"/>
              <a:t> </a:t>
            </a:r>
            <a:r>
              <a:rPr sz="1600" dirty="0" err="1"/>
              <a:t>được</a:t>
            </a:r>
            <a:r>
              <a:rPr sz="1600" dirty="0"/>
              <a:t> TGAM qua COM14: Attention, Meditation, Signal </a:t>
            </a:r>
            <a:r>
              <a:rPr sz="1600" dirty="0" err="1"/>
              <a:t>và</a:t>
            </a:r>
            <a:r>
              <a:rPr sz="1600" dirty="0"/>
              <a:t> 8 </a:t>
            </a:r>
            <a:r>
              <a:rPr sz="1600" dirty="0" err="1"/>
              <a:t>dải</a:t>
            </a:r>
            <a:r>
              <a:rPr sz="1600" dirty="0"/>
              <a:t> EEG.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Camera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tích</a:t>
            </a:r>
            <a:r>
              <a:rPr sz="1600" dirty="0"/>
              <a:t> Head Pose, Gaze </a:t>
            </a:r>
            <a:r>
              <a:rPr sz="1600" dirty="0" err="1"/>
              <a:t>và</a:t>
            </a:r>
            <a:r>
              <a:rPr sz="1600" dirty="0"/>
              <a:t> 7 </a:t>
            </a:r>
            <a:r>
              <a:rPr sz="1600" dirty="0" err="1"/>
              <a:t>biểu</a:t>
            </a:r>
            <a:r>
              <a:rPr sz="1600" dirty="0"/>
              <a:t> </a:t>
            </a:r>
            <a:r>
              <a:rPr sz="1600" dirty="0" err="1"/>
              <a:t>cảm</a:t>
            </a:r>
            <a:r>
              <a:rPr sz="1600" dirty="0"/>
              <a:t> </a:t>
            </a:r>
            <a:r>
              <a:rPr sz="1600" dirty="0" err="1"/>
              <a:t>DeepFace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Edge </a:t>
            </a:r>
            <a:r>
              <a:rPr sz="1600" dirty="0" err="1"/>
              <a:t>gửi</a:t>
            </a:r>
            <a:r>
              <a:rPr sz="1600" dirty="0"/>
              <a:t> </a:t>
            </a:r>
            <a:r>
              <a:rPr sz="1600" dirty="0" err="1"/>
              <a:t>sensor_data</a:t>
            </a:r>
            <a:r>
              <a:rPr sz="1600" dirty="0"/>
              <a:t> real-time qua Socket.IO </a:t>
            </a:r>
            <a:r>
              <a:rPr sz="1600" dirty="0" err="1"/>
              <a:t>tới</a:t>
            </a:r>
            <a:r>
              <a:rPr sz="1600" dirty="0"/>
              <a:t> Backend </a:t>
            </a:r>
            <a:r>
              <a:rPr sz="1600" dirty="0" err="1"/>
              <a:t>và</a:t>
            </a:r>
            <a:r>
              <a:rPr sz="1600" dirty="0"/>
              <a:t> React Dashboard.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Random Forest </a:t>
            </a:r>
            <a:r>
              <a:rPr sz="1600" dirty="0" err="1"/>
              <a:t>dùng</a:t>
            </a:r>
            <a:r>
              <a:rPr sz="1600" dirty="0"/>
              <a:t> vector 10 </a:t>
            </a:r>
            <a:r>
              <a:rPr sz="1600" dirty="0" err="1"/>
              <a:t>đặc</a:t>
            </a:r>
            <a:r>
              <a:rPr sz="1600" dirty="0"/>
              <a:t> </a:t>
            </a:r>
            <a:r>
              <a:rPr sz="1600" dirty="0" err="1"/>
              <a:t>trưng</a:t>
            </a:r>
            <a:r>
              <a:rPr sz="1600" dirty="0"/>
              <a:t> </a:t>
            </a:r>
            <a:r>
              <a:rPr sz="1600" dirty="0" err="1"/>
              <a:t>để</a:t>
            </a:r>
            <a:r>
              <a:rPr sz="1600" dirty="0"/>
              <a:t> </a:t>
            </a:r>
            <a:r>
              <a:rPr sz="1600" dirty="0" err="1"/>
              <a:t>sinh</a:t>
            </a:r>
            <a:r>
              <a:rPr sz="1600" dirty="0"/>
              <a:t> </a:t>
            </a:r>
            <a:r>
              <a:rPr sz="1600" dirty="0" err="1"/>
              <a:t>final_state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Dataset </a:t>
            </a:r>
            <a:r>
              <a:rPr sz="1600" dirty="0" err="1"/>
              <a:t>thử</a:t>
            </a:r>
            <a:r>
              <a:rPr sz="1600" dirty="0"/>
              <a:t> </a:t>
            </a:r>
            <a:r>
              <a:rPr sz="1600" dirty="0" err="1"/>
              <a:t>nghiệm</a:t>
            </a:r>
            <a:r>
              <a:rPr sz="1600" dirty="0"/>
              <a:t>: 4.084 </a:t>
            </a:r>
            <a:r>
              <a:rPr sz="1600" dirty="0" err="1"/>
              <a:t>bản</a:t>
            </a:r>
            <a:r>
              <a:rPr sz="1600" dirty="0"/>
              <a:t> </a:t>
            </a:r>
            <a:r>
              <a:rPr sz="1600" dirty="0" err="1"/>
              <a:t>ghi</a:t>
            </a:r>
            <a:r>
              <a:rPr sz="1600" dirty="0"/>
              <a:t>; 1.992 </a:t>
            </a:r>
            <a:r>
              <a:rPr sz="1600" dirty="0" err="1"/>
              <a:t>Tập</a:t>
            </a:r>
            <a:r>
              <a:rPr sz="1600" dirty="0"/>
              <a:t> </a:t>
            </a:r>
            <a:r>
              <a:rPr sz="1600" dirty="0" err="1"/>
              <a:t>trung</a:t>
            </a:r>
            <a:r>
              <a:rPr sz="1600" dirty="0"/>
              <a:t>, 2.092 Sao </a:t>
            </a:r>
            <a:r>
              <a:rPr sz="1600" dirty="0" err="1"/>
              <a:t>nhãng</a:t>
            </a:r>
            <a:r>
              <a:rPr sz="16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3834"/>
            <a:ext cx="182614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 err="1">
                <a:solidFill>
                  <a:srgbClr val="285ABE"/>
                </a:solidFill>
              </a:rPr>
              <a:t>Hướng</a:t>
            </a:r>
            <a:r>
              <a:rPr sz="1500" b="1" dirty="0">
                <a:solidFill>
                  <a:srgbClr val="285ABE"/>
                </a:solidFill>
              </a:rPr>
              <a:t> </a:t>
            </a:r>
            <a:r>
              <a:rPr sz="1500" b="1" dirty="0" err="1">
                <a:solidFill>
                  <a:srgbClr val="285ABE"/>
                </a:solidFill>
              </a:rPr>
              <a:t>phát</a:t>
            </a:r>
            <a:r>
              <a:rPr sz="1500" b="1" dirty="0">
                <a:solidFill>
                  <a:srgbClr val="285ABE"/>
                </a:solidFill>
              </a:rPr>
              <a:t> </a:t>
            </a:r>
            <a:r>
              <a:rPr sz="1500" b="1" dirty="0" err="1" smtClean="0">
                <a:solidFill>
                  <a:srgbClr val="285ABE"/>
                </a:solidFill>
              </a:rPr>
              <a:t>triển</a:t>
            </a:r>
            <a:r>
              <a:rPr lang="en-US" sz="1500" b="1" dirty="0" smtClean="0">
                <a:solidFill>
                  <a:srgbClr val="285ABE"/>
                </a:solidFill>
              </a:rPr>
              <a:t>:</a:t>
            </a:r>
            <a:endParaRPr sz="1500" b="1" dirty="0">
              <a:solidFill>
                <a:srgbClr val="285AB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636" y="3703320"/>
            <a:ext cx="8215884" cy="1370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Thu </a:t>
            </a:r>
            <a:r>
              <a:rPr sz="1600" dirty="0" err="1"/>
              <a:t>thêm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</a:t>
            </a:r>
            <a:r>
              <a:rPr sz="1600" dirty="0" err="1"/>
              <a:t>từ</a:t>
            </a:r>
            <a:r>
              <a:rPr sz="1600" dirty="0"/>
              <a:t> </a:t>
            </a:r>
            <a:r>
              <a:rPr sz="1600" dirty="0" err="1"/>
              <a:t>nhiều</a:t>
            </a:r>
            <a:r>
              <a:rPr sz="1600" dirty="0"/>
              <a:t> </a:t>
            </a:r>
            <a:r>
              <a:rPr sz="1600" dirty="0" err="1"/>
              <a:t>người</a:t>
            </a:r>
            <a:r>
              <a:rPr sz="1600" dirty="0"/>
              <a:t> </a:t>
            </a:r>
            <a:r>
              <a:rPr sz="1600" dirty="0" err="1"/>
              <a:t>dùng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nhiều</a:t>
            </a:r>
            <a:r>
              <a:rPr sz="1600" dirty="0"/>
              <a:t> </a:t>
            </a:r>
            <a:r>
              <a:rPr sz="1600" dirty="0" err="1"/>
              <a:t>phiên</a:t>
            </a:r>
            <a:r>
              <a:rPr sz="1600" dirty="0"/>
              <a:t> </a:t>
            </a:r>
            <a:r>
              <a:rPr sz="1600" dirty="0" err="1"/>
              <a:t>đo</a:t>
            </a:r>
            <a:r>
              <a:rPr sz="1600" dirty="0"/>
              <a:t> </a:t>
            </a:r>
            <a:r>
              <a:rPr sz="1600" dirty="0" err="1"/>
              <a:t>độc</a:t>
            </a:r>
            <a:r>
              <a:rPr sz="1600" dirty="0"/>
              <a:t> </a:t>
            </a:r>
            <a:r>
              <a:rPr sz="1600" dirty="0" err="1"/>
              <a:t>lập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Bổ</a:t>
            </a:r>
            <a:r>
              <a:rPr sz="1600" dirty="0"/>
              <a:t> sung EAR/PERCLOS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nhắm</a:t>
            </a:r>
            <a:r>
              <a:rPr sz="1600" dirty="0"/>
              <a:t> </a:t>
            </a:r>
            <a:r>
              <a:rPr sz="1600" dirty="0" err="1"/>
              <a:t>mắt</a:t>
            </a:r>
            <a:r>
              <a:rPr sz="1600" dirty="0"/>
              <a:t>; MAR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ngáp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mệt</a:t>
            </a:r>
            <a:r>
              <a:rPr sz="1600" dirty="0"/>
              <a:t> </a:t>
            </a:r>
            <a:r>
              <a:rPr sz="1600" dirty="0" err="1"/>
              <a:t>mỏi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Thêm</a:t>
            </a:r>
            <a:r>
              <a:rPr sz="1600" dirty="0"/>
              <a:t> </a:t>
            </a:r>
            <a:r>
              <a:rPr sz="1600" dirty="0" err="1"/>
              <a:t>session_id</a:t>
            </a:r>
            <a:r>
              <a:rPr sz="1600" dirty="0"/>
              <a:t>, </a:t>
            </a:r>
            <a:r>
              <a:rPr sz="1600" dirty="0" err="1"/>
              <a:t>đánh</a:t>
            </a:r>
            <a:r>
              <a:rPr sz="1600" dirty="0"/>
              <a:t> </a:t>
            </a:r>
            <a:r>
              <a:rPr sz="1600" dirty="0" err="1"/>
              <a:t>giá</a:t>
            </a:r>
            <a:r>
              <a:rPr sz="1600" dirty="0"/>
              <a:t> </a:t>
            </a:r>
            <a:r>
              <a:rPr sz="1600" dirty="0" err="1"/>
              <a:t>theo</a:t>
            </a:r>
            <a:r>
              <a:rPr sz="1600" dirty="0"/>
              <a:t> </a:t>
            </a:r>
            <a:r>
              <a:rPr sz="1600" dirty="0" err="1"/>
              <a:t>phiên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tối</a:t>
            </a:r>
            <a:r>
              <a:rPr sz="1600" dirty="0"/>
              <a:t> </a:t>
            </a:r>
            <a:r>
              <a:rPr sz="1600" dirty="0" err="1"/>
              <a:t>ưu</a:t>
            </a:r>
            <a:r>
              <a:rPr sz="1600" dirty="0"/>
              <a:t> </a:t>
            </a:r>
            <a:r>
              <a:rPr sz="1600" dirty="0" err="1"/>
              <a:t>lưu</a:t>
            </a:r>
            <a:r>
              <a:rPr sz="1600" dirty="0"/>
              <a:t> telemetry.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Triển</a:t>
            </a:r>
            <a:r>
              <a:rPr sz="1600" dirty="0"/>
              <a:t> </a:t>
            </a:r>
            <a:r>
              <a:rPr sz="1600" dirty="0" err="1"/>
              <a:t>khai</a:t>
            </a:r>
            <a:r>
              <a:rPr sz="1600" dirty="0"/>
              <a:t> Edge </a:t>
            </a:r>
            <a:r>
              <a:rPr sz="1600" dirty="0" err="1"/>
              <a:t>trên</a:t>
            </a:r>
            <a:r>
              <a:rPr sz="1600" dirty="0"/>
              <a:t> Raspberry Pi </a:t>
            </a:r>
            <a:r>
              <a:rPr sz="1600" dirty="0" err="1"/>
              <a:t>hoặc</a:t>
            </a:r>
            <a:r>
              <a:rPr sz="1600" dirty="0"/>
              <a:t> </a:t>
            </a:r>
            <a:r>
              <a:rPr sz="1600" dirty="0" err="1"/>
              <a:t>thiết</a:t>
            </a:r>
            <a:r>
              <a:rPr sz="1600" dirty="0"/>
              <a:t> </a:t>
            </a:r>
            <a:r>
              <a:rPr sz="1600" dirty="0" err="1"/>
              <a:t>bị</a:t>
            </a:r>
            <a:r>
              <a:rPr sz="1600" dirty="0"/>
              <a:t> </a:t>
            </a:r>
            <a:r>
              <a:rPr sz="1600" dirty="0" err="1"/>
              <a:t>nhỏ</a:t>
            </a:r>
            <a:r>
              <a:rPr sz="1600" dirty="0"/>
              <a:t> </a:t>
            </a:r>
            <a:r>
              <a:rPr sz="1600" dirty="0" err="1"/>
              <a:t>gọn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060">
                <a:solidFill>
                  <a:srgbClr val="232323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Tăng</a:t>
            </a:r>
            <a:r>
              <a:rPr sz="1600" dirty="0"/>
              <a:t> </a:t>
            </a:r>
            <a:r>
              <a:rPr sz="1600" dirty="0" err="1"/>
              <a:t>bảo</a:t>
            </a:r>
            <a:r>
              <a:rPr sz="1600" dirty="0"/>
              <a:t> </a:t>
            </a:r>
            <a:r>
              <a:rPr sz="1600" dirty="0" err="1"/>
              <a:t>mật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quyền</a:t>
            </a:r>
            <a:r>
              <a:rPr sz="1600" dirty="0"/>
              <a:t> </a:t>
            </a:r>
            <a:r>
              <a:rPr sz="1600" dirty="0" err="1"/>
              <a:t>riêng</a:t>
            </a:r>
            <a:r>
              <a:rPr sz="1600" dirty="0"/>
              <a:t> </a:t>
            </a:r>
            <a:r>
              <a:rPr sz="1600" dirty="0" err="1"/>
              <a:t>tư</a:t>
            </a:r>
            <a:r>
              <a:rPr sz="1600" dirty="0"/>
              <a:t>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EEG/camera.</a:t>
            </a:r>
          </a:p>
        </p:txBody>
      </p:sp>
    </p:spTree>
    <p:extLst>
      <p:ext uri="{BB962C8B-B14F-4D97-AF65-F5344CB8AC3E}">
        <p14:creationId xmlns:p14="http://schemas.microsoft.com/office/powerpoint/2010/main" val="3611213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6052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</a:rPr>
              <a:t>THANK YOU !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0690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Hệ thống AIoT hỗ trợ học tập sử dụng EEG và camera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Lê Hồng Sơn – 20225389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887968" y="651052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C00000"/>
                </a:solidFill>
              </a:rPr>
              <a:t>12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983</Words>
  <Application>Microsoft Office PowerPoint</Application>
  <PresentationFormat>On-screen Show (4:3)</PresentationFormat>
  <Paragraphs>197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HUST - SOICT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AIoT hỗ trợ học tập sử dụng EEG và Camera</dc:title>
  <dc:subject>AIoT presentation</dc:subject>
  <dc:creator>OpenAI</dc:creator>
  <cp:lastModifiedBy>Admin</cp:lastModifiedBy>
  <cp:revision>10</cp:revision>
  <dcterms:created xsi:type="dcterms:W3CDTF">2026-07-15T15:01:20Z</dcterms:created>
  <dcterms:modified xsi:type="dcterms:W3CDTF">2026-07-22T23:21:11Z</dcterms:modified>
</cp:coreProperties>
</file>